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73" r:id="rId3"/>
    <p:sldId id="261" r:id="rId4"/>
    <p:sldId id="262" r:id="rId5"/>
    <p:sldId id="264" r:id="rId6"/>
    <p:sldId id="265" r:id="rId7"/>
    <p:sldId id="274" r:id="rId8"/>
    <p:sldId id="263" r:id="rId9"/>
    <p:sldId id="266" r:id="rId10"/>
    <p:sldId id="267" r:id="rId11"/>
    <p:sldId id="268" r:id="rId12"/>
    <p:sldId id="269" r:id="rId13"/>
    <p:sldId id="270" r:id="rId14"/>
    <p:sldId id="271" r:id="rId15"/>
    <p:sldId id="272" r:id="rId16"/>
    <p:sldId id="275" r:id="rId17"/>
    <p:sldId id="259" r:id="rId18"/>
  </p:sldIdLst>
  <p:sldSz cx="12192000" cy="6858000"/>
  <p:notesSz cx="6858000" cy="9144000"/>
  <p:embeddedFontLst>
    <p:embeddedFont>
      <p:font typeface="Algerian" panose="04020705040A02060702" pitchFamily="82" charset="0"/>
      <p:regular r:id="rId20"/>
    </p:embeddedFont>
    <p:embeddedFont>
      <p:font typeface="Libre Baskerville" panose="02000000000000000000" pitchFamily="2" charset="0"/>
      <p:regular r:id="rId21"/>
      <p:bold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5975F9-CA7B-4309-B2CD-3A693F6B1D0A}" v="3" dt="2025-10-16T07:59:03.8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ESH CHILI" userId="17d645410a3ba31c" providerId="LiveId" clId="{40A680B9-09C6-469E-9031-0EA45FB1EE54}"/>
    <pc:docChg chg="undo custSel addSld delSld modSld">
      <pc:chgData name="VENKATESH CHILI" userId="17d645410a3ba31c" providerId="LiveId" clId="{40A680B9-09C6-469E-9031-0EA45FB1EE54}" dt="2025-10-16T07:59:31.402" v="23" actId="113"/>
      <pc:docMkLst>
        <pc:docMk/>
      </pc:docMkLst>
      <pc:sldChg chg="del">
        <pc:chgData name="VENKATESH CHILI" userId="17d645410a3ba31c" providerId="LiveId" clId="{40A680B9-09C6-469E-9031-0EA45FB1EE54}" dt="2025-10-16T07:57:47.969" v="0" actId="47"/>
        <pc:sldMkLst>
          <pc:docMk/>
          <pc:sldMk cId="0" sldId="257"/>
        </pc:sldMkLst>
      </pc:sldChg>
      <pc:sldChg chg="del">
        <pc:chgData name="VENKATESH CHILI" userId="17d645410a3ba31c" providerId="LiveId" clId="{40A680B9-09C6-469E-9031-0EA45FB1EE54}" dt="2025-10-16T07:57:50.816" v="1" actId="47"/>
        <pc:sldMkLst>
          <pc:docMk/>
          <pc:sldMk cId="0" sldId="258"/>
        </pc:sldMkLst>
      </pc:sldChg>
      <pc:sldChg chg="modSp new mod">
        <pc:chgData name="VENKATESH CHILI" userId="17d645410a3ba31c" providerId="LiveId" clId="{40A680B9-09C6-469E-9031-0EA45FB1EE54}" dt="2025-10-16T07:59:31.402" v="23" actId="113"/>
        <pc:sldMkLst>
          <pc:docMk/>
          <pc:sldMk cId="2239395103" sldId="275"/>
        </pc:sldMkLst>
        <pc:spChg chg="mod">
          <ac:chgData name="VENKATESH CHILI" userId="17d645410a3ba31c" providerId="LiveId" clId="{40A680B9-09C6-469E-9031-0EA45FB1EE54}" dt="2025-10-16T07:59:13.226" v="19" actId="122"/>
          <ac:spMkLst>
            <pc:docMk/>
            <pc:sldMk cId="2239395103" sldId="275"/>
            <ac:spMk id="2" creationId="{A5065773-BFC2-CC31-B70D-C01A79E76DD7}"/>
          </ac:spMkLst>
        </pc:spChg>
        <pc:spChg chg="mod">
          <ac:chgData name="VENKATESH CHILI" userId="17d645410a3ba31c" providerId="LiveId" clId="{40A680B9-09C6-469E-9031-0EA45FB1EE54}" dt="2025-10-16T07:59:31.402" v="23" actId="113"/>
          <ac:spMkLst>
            <pc:docMk/>
            <pc:sldMk cId="2239395103" sldId="275"/>
            <ac:spMk id="3" creationId="{73FA46CD-B44D-C912-7FC1-4CA4F58C3E2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81951"/>
            <a:ext cx="12190815" cy="6694098"/>
          </a:xfrm>
          <a:prstGeom prst="rect">
            <a:avLst/>
          </a:prstGeom>
          <a:noFill/>
          <a:ln>
            <a:noFill/>
          </a:ln>
        </p:spPr>
      </p:pic>
      <p:sp>
        <p:nvSpPr>
          <p:cNvPr id="99" name="Google Shape;99;p1"/>
          <p:cNvSpPr txBox="1"/>
          <p:nvPr/>
        </p:nvSpPr>
        <p:spPr>
          <a:xfrm>
            <a:off x="2472312" y="3354191"/>
            <a:ext cx="7246189" cy="861734"/>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3200" dirty="0">
                <a:latin typeface="Algerian" panose="04020705040A02060702" pitchFamily="82" charset="0"/>
              </a:rPr>
              <a:t>Library Database Analysis</a:t>
            </a:r>
            <a:endParaRPr sz="3200" b="0" i="0" u="none" strike="noStrike" cap="none" dirty="0">
              <a:solidFill>
                <a:srgbClr val="000000"/>
              </a:solidFill>
              <a:latin typeface="Algerian" panose="04020705040A02060702" pitchFamily="82" charset="0"/>
              <a:sym typeface="Arial"/>
            </a:endParaRPr>
          </a:p>
        </p:txBody>
      </p:sp>
      <p:sp>
        <p:nvSpPr>
          <p:cNvPr id="7" name="TextBox 3">
            <a:extLst>
              <a:ext uri="{FF2B5EF4-FFF2-40B4-BE49-F238E27FC236}">
                <a16:creationId xmlns:a16="http://schemas.microsoft.com/office/drawing/2014/main" id="{E9D53D54-997C-645F-4FCE-2A97DE23B410}"/>
              </a:ext>
            </a:extLst>
          </p:cNvPr>
          <p:cNvSpPr txBox="1"/>
          <p:nvPr/>
        </p:nvSpPr>
        <p:spPr>
          <a:xfrm>
            <a:off x="7933404" y="4562278"/>
            <a:ext cx="4081616" cy="184665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Times New Roman" panose="02020603050405020304" pitchFamily="18" charset="0"/>
                <a:cs typeface="Times New Roman" panose="02020603050405020304" pitchFamily="18" charset="0"/>
              </a:rPr>
              <a:t>PRESENTED BY :</a:t>
            </a:r>
          </a:p>
          <a:p>
            <a:endParaRPr lang="en-US" sz="1600" b="1" dirty="0">
              <a:latin typeface="Times New Roman" panose="02020603050405020304" pitchFamily="18" charset="0"/>
              <a:cs typeface="Times New Roman" panose="02020603050405020304" pitchFamily="18" charset="0"/>
            </a:endParaRPr>
          </a:p>
          <a:p>
            <a:r>
              <a:rPr lang="en-US" sz="1600" b="1" dirty="0" err="1">
                <a:latin typeface="Times New Roman" panose="02020603050405020304" pitchFamily="18" charset="0"/>
                <a:cs typeface="Times New Roman" panose="02020603050405020304" pitchFamily="18" charset="0"/>
              </a:rPr>
              <a:t>Y.K.Chakradhar</a:t>
            </a:r>
            <a:r>
              <a:rPr lang="en-US" sz="1600" b="1" dirty="0">
                <a:latin typeface="Times New Roman" panose="02020603050405020304" pitchFamily="18" charset="0"/>
                <a:cs typeface="Times New Roman" panose="02020603050405020304" pitchFamily="18" charset="0"/>
              </a:rPr>
              <a:t> Reddy</a:t>
            </a:r>
          </a:p>
          <a:p>
            <a:endParaRPr lang="en-US" sz="1600" b="1" dirty="0">
              <a:latin typeface="Times New Roman" panose="02020603050405020304" pitchFamily="18" charset="0"/>
              <a:cs typeface="Times New Roman" panose="02020603050405020304" pitchFamily="18" charset="0"/>
            </a:endParaRPr>
          </a:p>
          <a:p>
            <a:r>
              <a:rPr lang="en-US" sz="1600" b="1" dirty="0" err="1">
                <a:latin typeface="Times New Roman" panose="02020603050405020304" pitchFamily="18" charset="0"/>
                <a:cs typeface="Times New Roman" panose="02020603050405020304" pitchFamily="18" charset="0"/>
              </a:rPr>
              <a:t>Ch.Venkatesh</a:t>
            </a:r>
            <a:endParaRPr lang="en-US" sz="1600" b="1" dirty="0">
              <a:latin typeface="Times New Roman" panose="02020603050405020304" pitchFamily="18" charset="0"/>
              <a:cs typeface="Times New Roman" panose="02020603050405020304" pitchFamily="18" charset="0"/>
            </a:endParaRPr>
          </a:p>
          <a:p>
            <a:endParaRPr lang="en-US" sz="1600" b="1"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Ch.Samuel</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872AB-C123-96D0-DD34-15E6CD7CAB18}"/>
              </a:ext>
            </a:extLst>
          </p:cNvPr>
          <p:cNvSpPr>
            <a:spLocks noGrp="1"/>
          </p:cNvSpPr>
          <p:nvPr>
            <p:ph type="title"/>
          </p:nvPr>
        </p:nvSpPr>
        <p:spPr/>
        <p:txBody>
          <a:bodyPr/>
          <a:lstStyle/>
          <a:p>
            <a:pPr algn="ctr"/>
            <a:r>
              <a:rPr lang="en-US" dirty="0"/>
              <a:t>Introduction</a:t>
            </a:r>
            <a:endParaRPr lang="en-IN" dirty="0"/>
          </a:p>
        </p:txBody>
      </p:sp>
      <p:sp>
        <p:nvSpPr>
          <p:cNvPr id="3" name="Text Placeholder 2">
            <a:extLst>
              <a:ext uri="{FF2B5EF4-FFF2-40B4-BE49-F238E27FC236}">
                <a16:creationId xmlns:a16="http://schemas.microsoft.com/office/drawing/2014/main" id="{C9D755B3-C11B-2D1C-B807-81B24D3282C9}"/>
              </a:ext>
            </a:extLst>
          </p:cNvPr>
          <p:cNvSpPr>
            <a:spLocks noGrp="1"/>
          </p:cNvSpPr>
          <p:nvPr>
            <p:ph type="body" idx="1"/>
          </p:nvPr>
        </p:nvSpPr>
        <p:spPr/>
        <p:txBody>
          <a:bodyPr/>
          <a:lstStyle/>
          <a:p>
            <a:r>
              <a:rPr lang="en-US" dirty="0"/>
              <a:t>This project, </a:t>
            </a:r>
            <a:r>
              <a:rPr lang="en-US" b="1" dirty="0"/>
              <a:t>“</a:t>
            </a:r>
            <a:r>
              <a:rPr lang="en-US" dirty="0"/>
              <a:t>Library Database Analysis</a:t>
            </a:r>
            <a:r>
              <a:rPr lang="en-US" b="1" dirty="0"/>
              <a:t>,”</a:t>
            </a:r>
            <a:r>
              <a:rPr lang="en-US" dirty="0"/>
              <a:t> focuses on managing and analyzing library data using SQL. It involves designing a relational database with tables like Books, Authors, Borrowers, and Library Branches, and writing queries to extract key insights such as book availability, borrower activity, and branch performance. The project helps in understanding data relationships, query optimization, and data-driven analysis in real-world scenarios.</a:t>
            </a:r>
          </a:p>
          <a:p>
            <a:endParaRPr lang="en-IN" dirty="0"/>
          </a:p>
        </p:txBody>
      </p:sp>
    </p:spTree>
    <p:extLst>
      <p:ext uri="{BB962C8B-B14F-4D97-AF65-F5344CB8AC3E}">
        <p14:creationId xmlns:p14="http://schemas.microsoft.com/office/powerpoint/2010/main" val="3269602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C7EC0-48F6-9BD9-E0D9-1996E770E21A}"/>
              </a:ext>
            </a:extLst>
          </p:cNvPr>
          <p:cNvSpPr>
            <a:spLocks noGrp="1"/>
          </p:cNvSpPr>
          <p:nvPr>
            <p:ph type="title"/>
          </p:nvPr>
        </p:nvSpPr>
        <p:spPr>
          <a:xfrm>
            <a:off x="838200" y="60785"/>
            <a:ext cx="10515600" cy="1325563"/>
          </a:xfrm>
        </p:spPr>
        <p:txBody>
          <a:bodyPr/>
          <a:lstStyle/>
          <a:p>
            <a:r>
              <a:rPr lang="en-US" dirty="0"/>
              <a:t>TABLES</a:t>
            </a:r>
            <a:endParaRPr lang="en-IN" dirty="0"/>
          </a:p>
        </p:txBody>
      </p:sp>
      <p:sp>
        <p:nvSpPr>
          <p:cNvPr id="3" name="Text Placeholder 2">
            <a:extLst>
              <a:ext uri="{FF2B5EF4-FFF2-40B4-BE49-F238E27FC236}">
                <a16:creationId xmlns:a16="http://schemas.microsoft.com/office/drawing/2014/main" id="{EBC7F964-C166-AE4B-4811-E1B1AECFFE19}"/>
              </a:ext>
            </a:extLst>
          </p:cNvPr>
          <p:cNvSpPr>
            <a:spLocks noGrp="1"/>
          </p:cNvSpPr>
          <p:nvPr>
            <p:ph type="body" idx="1"/>
          </p:nvPr>
        </p:nvSpPr>
        <p:spPr>
          <a:xfrm>
            <a:off x="838200" y="1009112"/>
            <a:ext cx="10515600" cy="4839776"/>
          </a:xfrm>
        </p:spPr>
        <p:txBody>
          <a:bodyPr/>
          <a:lstStyle/>
          <a:p>
            <a:r>
              <a:rPr lang="en-US" dirty="0"/>
              <a:t>PUBLISHER</a:t>
            </a:r>
            <a:endParaRPr lang="en-IN" dirty="0"/>
          </a:p>
        </p:txBody>
      </p:sp>
      <p:pic>
        <p:nvPicPr>
          <p:cNvPr id="5" name="Picture 4">
            <a:extLst>
              <a:ext uri="{FF2B5EF4-FFF2-40B4-BE49-F238E27FC236}">
                <a16:creationId xmlns:a16="http://schemas.microsoft.com/office/drawing/2014/main" id="{43189781-6756-C6AA-9AAE-8780C2632F4B}"/>
              </a:ext>
            </a:extLst>
          </p:cNvPr>
          <p:cNvPicPr>
            <a:picLocks noChangeAspect="1"/>
          </p:cNvPicPr>
          <p:nvPr/>
        </p:nvPicPr>
        <p:blipFill>
          <a:blip r:embed="rId2"/>
          <a:stretch>
            <a:fillRect/>
          </a:stretch>
        </p:blipFill>
        <p:spPr>
          <a:xfrm>
            <a:off x="838199" y="1710813"/>
            <a:ext cx="8836316" cy="4466149"/>
          </a:xfrm>
          <a:prstGeom prst="rect">
            <a:avLst/>
          </a:prstGeom>
        </p:spPr>
      </p:pic>
    </p:spTree>
    <p:extLst>
      <p:ext uri="{BB962C8B-B14F-4D97-AF65-F5344CB8AC3E}">
        <p14:creationId xmlns:p14="http://schemas.microsoft.com/office/powerpoint/2010/main" val="735017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ABC99E-D8FF-2FC4-3C37-34CABF9501F3}"/>
              </a:ext>
            </a:extLst>
          </p:cNvPr>
          <p:cNvSpPr>
            <a:spLocks noGrp="1"/>
          </p:cNvSpPr>
          <p:nvPr>
            <p:ph type="body" idx="1"/>
          </p:nvPr>
        </p:nvSpPr>
        <p:spPr>
          <a:xfrm>
            <a:off x="523568" y="0"/>
            <a:ext cx="10515600" cy="6858000"/>
          </a:xfrm>
        </p:spPr>
        <p:txBody>
          <a:bodyPr/>
          <a:lstStyle/>
          <a:p>
            <a:r>
              <a:rPr lang="en-US" dirty="0"/>
              <a:t>LIBRARY BRACNCH</a:t>
            </a:r>
          </a:p>
          <a:p>
            <a:endParaRPr lang="en-US" dirty="0"/>
          </a:p>
          <a:p>
            <a:endParaRPr lang="en-US" dirty="0"/>
          </a:p>
          <a:p>
            <a:endParaRPr lang="en-US" dirty="0"/>
          </a:p>
          <a:p>
            <a:endParaRPr lang="en-US" dirty="0"/>
          </a:p>
          <a:p>
            <a:endParaRPr lang="en-US" dirty="0"/>
          </a:p>
          <a:p>
            <a:r>
              <a:rPr lang="en-US" dirty="0"/>
              <a:t>BORROWER</a:t>
            </a:r>
          </a:p>
          <a:p>
            <a:endParaRPr lang="en-US" dirty="0"/>
          </a:p>
          <a:p>
            <a:endParaRPr lang="en-US" dirty="0"/>
          </a:p>
          <a:p>
            <a:endParaRPr lang="en-US" dirty="0"/>
          </a:p>
          <a:p>
            <a:pPr marL="114300" indent="0">
              <a:buNone/>
            </a:pPr>
            <a:endParaRPr lang="en-US" dirty="0"/>
          </a:p>
          <a:p>
            <a:pPr marL="114300" indent="0">
              <a:buNone/>
            </a:pPr>
            <a:endParaRPr lang="en-US" dirty="0"/>
          </a:p>
          <a:p>
            <a:endParaRPr lang="en-US" dirty="0"/>
          </a:p>
          <a:p>
            <a:endParaRPr lang="en-IN" dirty="0"/>
          </a:p>
        </p:txBody>
      </p:sp>
      <p:pic>
        <p:nvPicPr>
          <p:cNvPr id="5" name="Picture 4">
            <a:extLst>
              <a:ext uri="{FF2B5EF4-FFF2-40B4-BE49-F238E27FC236}">
                <a16:creationId xmlns:a16="http://schemas.microsoft.com/office/drawing/2014/main" id="{AB4ACB1C-2526-4733-CA6D-71812CDAF241}"/>
              </a:ext>
            </a:extLst>
          </p:cNvPr>
          <p:cNvPicPr>
            <a:picLocks noChangeAspect="1"/>
          </p:cNvPicPr>
          <p:nvPr/>
        </p:nvPicPr>
        <p:blipFill>
          <a:blip r:embed="rId2"/>
          <a:stretch>
            <a:fillRect/>
          </a:stretch>
        </p:blipFill>
        <p:spPr>
          <a:xfrm>
            <a:off x="1047136" y="576838"/>
            <a:ext cx="4793225" cy="2573285"/>
          </a:xfrm>
          <a:prstGeom prst="rect">
            <a:avLst/>
          </a:prstGeom>
        </p:spPr>
      </p:pic>
      <p:pic>
        <p:nvPicPr>
          <p:cNvPr id="7" name="Picture 6">
            <a:extLst>
              <a:ext uri="{FF2B5EF4-FFF2-40B4-BE49-F238E27FC236}">
                <a16:creationId xmlns:a16="http://schemas.microsoft.com/office/drawing/2014/main" id="{DEB6AB74-D0E1-8962-4D9B-93E9FE9CC61E}"/>
              </a:ext>
            </a:extLst>
          </p:cNvPr>
          <p:cNvPicPr>
            <a:picLocks noChangeAspect="1"/>
          </p:cNvPicPr>
          <p:nvPr/>
        </p:nvPicPr>
        <p:blipFill>
          <a:blip r:embed="rId3"/>
          <a:stretch>
            <a:fillRect/>
          </a:stretch>
        </p:blipFill>
        <p:spPr>
          <a:xfrm>
            <a:off x="973394" y="3645322"/>
            <a:ext cx="7246374" cy="3212678"/>
          </a:xfrm>
          <a:prstGeom prst="rect">
            <a:avLst/>
          </a:prstGeom>
        </p:spPr>
      </p:pic>
    </p:spTree>
    <p:extLst>
      <p:ext uri="{BB962C8B-B14F-4D97-AF65-F5344CB8AC3E}">
        <p14:creationId xmlns:p14="http://schemas.microsoft.com/office/powerpoint/2010/main" val="935051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F3290D2-D9D9-EF0E-B6AA-F4A9EAF049F4}"/>
              </a:ext>
            </a:extLst>
          </p:cNvPr>
          <p:cNvSpPr>
            <a:spLocks noGrp="1"/>
          </p:cNvSpPr>
          <p:nvPr>
            <p:ph type="body" idx="2"/>
          </p:nvPr>
        </p:nvSpPr>
        <p:spPr>
          <a:xfrm>
            <a:off x="5600700" y="225425"/>
            <a:ext cx="5181600" cy="5951538"/>
          </a:xfrm>
        </p:spPr>
        <p:txBody>
          <a:bodyPr/>
          <a:lstStyle/>
          <a:p>
            <a:r>
              <a:rPr lang="en-US" dirty="0"/>
              <a:t>BOOK LOANS</a:t>
            </a:r>
            <a:endParaRPr lang="en-IN" dirty="0"/>
          </a:p>
        </p:txBody>
      </p:sp>
      <p:sp>
        <p:nvSpPr>
          <p:cNvPr id="5" name="Title 1">
            <a:extLst>
              <a:ext uri="{FF2B5EF4-FFF2-40B4-BE49-F238E27FC236}">
                <a16:creationId xmlns:a16="http://schemas.microsoft.com/office/drawing/2014/main" id="{1B857E90-2843-74EE-5466-50B4AF3D7D7B}"/>
              </a:ext>
            </a:extLst>
          </p:cNvPr>
          <p:cNvSpPr>
            <a:spLocks noGrp="1"/>
          </p:cNvSpPr>
          <p:nvPr>
            <p:ph type="body" idx="1"/>
          </p:nvPr>
        </p:nvSpPr>
        <p:spPr>
          <a:xfrm>
            <a:off x="469900" y="225425"/>
            <a:ext cx="5181600" cy="5951538"/>
          </a:xfrm>
        </p:spPr>
        <p:txBody>
          <a:bodyPr/>
          <a:lstStyle/>
          <a:p>
            <a:r>
              <a:rPr lang="en-US" dirty="0"/>
              <a:t>BOOKS </a:t>
            </a:r>
            <a:endParaRPr lang="en-IN" dirty="0"/>
          </a:p>
        </p:txBody>
      </p:sp>
      <p:pic>
        <p:nvPicPr>
          <p:cNvPr id="7" name="Picture 6">
            <a:extLst>
              <a:ext uri="{FF2B5EF4-FFF2-40B4-BE49-F238E27FC236}">
                <a16:creationId xmlns:a16="http://schemas.microsoft.com/office/drawing/2014/main" id="{12A32B6B-D24F-F5A1-B0C3-86D3E63F12E6}"/>
              </a:ext>
            </a:extLst>
          </p:cNvPr>
          <p:cNvPicPr>
            <a:picLocks noChangeAspect="1"/>
          </p:cNvPicPr>
          <p:nvPr/>
        </p:nvPicPr>
        <p:blipFill>
          <a:blip r:embed="rId2"/>
          <a:stretch>
            <a:fillRect/>
          </a:stretch>
        </p:blipFill>
        <p:spPr>
          <a:xfrm>
            <a:off x="594360" y="1483360"/>
            <a:ext cx="4536440" cy="4332154"/>
          </a:xfrm>
          <a:prstGeom prst="rect">
            <a:avLst/>
          </a:prstGeom>
        </p:spPr>
      </p:pic>
      <p:pic>
        <p:nvPicPr>
          <p:cNvPr id="9" name="Picture 8">
            <a:extLst>
              <a:ext uri="{FF2B5EF4-FFF2-40B4-BE49-F238E27FC236}">
                <a16:creationId xmlns:a16="http://schemas.microsoft.com/office/drawing/2014/main" id="{E7BE3ABA-CD18-3A87-A6D4-56694DBDD56B}"/>
              </a:ext>
            </a:extLst>
          </p:cNvPr>
          <p:cNvPicPr>
            <a:picLocks noChangeAspect="1"/>
          </p:cNvPicPr>
          <p:nvPr/>
        </p:nvPicPr>
        <p:blipFill>
          <a:blip r:embed="rId3"/>
          <a:stretch>
            <a:fillRect/>
          </a:stretch>
        </p:blipFill>
        <p:spPr>
          <a:xfrm>
            <a:off x="5651500" y="1483360"/>
            <a:ext cx="6330468" cy="4332154"/>
          </a:xfrm>
          <a:prstGeom prst="rect">
            <a:avLst/>
          </a:prstGeom>
        </p:spPr>
      </p:pic>
    </p:spTree>
    <p:extLst>
      <p:ext uri="{BB962C8B-B14F-4D97-AF65-F5344CB8AC3E}">
        <p14:creationId xmlns:p14="http://schemas.microsoft.com/office/powerpoint/2010/main" val="2526404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857A82B-E08B-A4A0-999E-743DC91EE23B}"/>
              </a:ext>
            </a:extLst>
          </p:cNvPr>
          <p:cNvSpPr>
            <a:spLocks noGrp="1"/>
          </p:cNvSpPr>
          <p:nvPr>
            <p:ph type="body" idx="2"/>
          </p:nvPr>
        </p:nvSpPr>
        <p:spPr>
          <a:xfrm>
            <a:off x="6096000" y="179705"/>
            <a:ext cx="5181600" cy="4351338"/>
          </a:xfrm>
        </p:spPr>
        <p:txBody>
          <a:bodyPr/>
          <a:lstStyle/>
          <a:p>
            <a:r>
              <a:rPr lang="en-US" dirty="0"/>
              <a:t>AUTHORS</a:t>
            </a:r>
            <a:endParaRPr lang="en-IN" dirty="0"/>
          </a:p>
        </p:txBody>
      </p:sp>
      <p:sp>
        <p:nvSpPr>
          <p:cNvPr id="5" name="Title 1">
            <a:extLst>
              <a:ext uri="{FF2B5EF4-FFF2-40B4-BE49-F238E27FC236}">
                <a16:creationId xmlns:a16="http://schemas.microsoft.com/office/drawing/2014/main" id="{9CC61F67-8F06-B0D6-BBE6-AC914B7EF6F7}"/>
              </a:ext>
            </a:extLst>
          </p:cNvPr>
          <p:cNvSpPr>
            <a:spLocks noGrp="1"/>
          </p:cNvSpPr>
          <p:nvPr>
            <p:ph type="body" idx="1"/>
          </p:nvPr>
        </p:nvSpPr>
        <p:spPr>
          <a:xfrm>
            <a:off x="665163" y="179388"/>
            <a:ext cx="5181600" cy="4351337"/>
          </a:xfrm>
        </p:spPr>
        <p:txBody>
          <a:bodyPr/>
          <a:lstStyle/>
          <a:p>
            <a:r>
              <a:rPr lang="en-US" dirty="0"/>
              <a:t>BOOK COPIES</a:t>
            </a:r>
            <a:endParaRPr lang="en-IN" dirty="0"/>
          </a:p>
        </p:txBody>
      </p:sp>
      <p:pic>
        <p:nvPicPr>
          <p:cNvPr id="7" name="Picture 6">
            <a:extLst>
              <a:ext uri="{FF2B5EF4-FFF2-40B4-BE49-F238E27FC236}">
                <a16:creationId xmlns:a16="http://schemas.microsoft.com/office/drawing/2014/main" id="{030D6CD9-C218-368E-A21D-21D95FC002AB}"/>
              </a:ext>
            </a:extLst>
          </p:cNvPr>
          <p:cNvPicPr>
            <a:picLocks noChangeAspect="1"/>
          </p:cNvPicPr>
          <p:nvPr/>
        </p:nvPicPr>
        <p:blipFill>
          <a:blip r:embed="rId2"/>
          <a:stretch>
            <a:fillRect/>
          </a:stretch>
        </p:blipFill>
        <p:spPr>
          <a:xfrm>
            <a:off x="665163" y="1229677"/>
            <a:ext cx="5267325" cy="4886325"/>
          </a:xfrm>
          <a:prstGeom prst="rect">
            <a:avLst/>
          </a:prstGeom>
        </p:spPr>
      </p:pic>
      <p:pic>
        <p:nvPicPr>
          <p:cNvPr id="9" name="Picture 8">
            <a:extLst>
              <a:ext uri="{FF2B5EF4-FFF2-40B4-BE49-F238E27FC236}">
                <a16:creationId xmlns:a16="http://schemas.microsoft.com/office/drawing/2014/main" id="{16C196DF-E9FE-8395-B2D3-BC336EFE4E13}"/>
              </a:ext>
            </a:extLst>
          </p:cNvPr>
          <p:cNvPicPr>
            <a:picLocks noChangeAspect="1"/>
          </p:cNvPicPr>
          <p:nvPr/>
        </p:nvPicPr>
        <p:blipFill>
          <a:blip r:embed="rId3"/>
          <a:stretch>
            <a:fillRect/>
          </a:stretch>
        </p:blipFill>
        <p:spPr>
          <a:xfrm>
            <a:off x="6431280" y="1329689"/>
            <a:ext cx="4267200" cy="4686300"/>
          </a:xfrm>
          <a:prstGeom prst="rect">
            <a:avLst/>
          </a:prstGeom>
        </p:spPr>
      </p:pic>
    </p:spTree>
    <p:extLst>
      <p:ext uri="{BB962C8B-B14F-4D97-AF65-F5344CB8AC3E}">
        <p14:creationId xmlns:p14="http://schemas.microsoft.com/office/powerpoint/2010/main" val="958834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0C110-1CB0-C7AC-3D66-8DA374D37381}"/>
              </a:ext>
            </a:extLst>
          </p:cNvPr>
          <p:cNvSpPr>
            <a:spLocks noGrp="1"/>
          </p:cNvSpPr>
          <p:nvPr>
            <p:ph type="title"/>
          </p:nvPr>
        </p:nvSpPr>
        <p:spPr/>
        <p:txBody>
          <a:bodyPr/>
          <a:lstStyle/>
          <a:p>
            <a:pPr algn="ctr"/>
            <a:r>
              <a:rPr lang="en-US" dirty="0"/>
              <a:t>Problem Statement</a:t>
            </a:r>
            <a:endParaRPr lang="en-IN" dirty="0"/>
          </a:p>
        </p:txBody>
      </p:sp>
      <p:sp>
        <p:nvSpPr>
          <p:cNvPr id="3" name="Text Placeholder 2">
            <a:extLst>
              <a:ext uri="{FF2B5EF4-FFF2-40B4-BE49-F238E27FC236}">
                <a16:creationId xmlns:a16="http://schemas.microsoft.com/office/drawing/2014/main" id="{97894150-5582-8AF1-5117-CF4B4F00F3B7}"/>
              </a:ext>
            </a:extLst>
          </p:cNvPr>
          <p:cNvSpPr>
            <a:spLocks noGrp="1"/>
          </p:cNvSpPr>
          <p:nvPr>
            <p:ph type="body" idx="1"/>
          </p:nvPr>
        </p:nvSpPr>
        <p:spPr/>
        <p:txBody>
          <a:bodyPr/>
          <a:lstStyle/>
          <a:p>
            <a:r>
              <a:rPr lang="en-US" dirty="0"/>
              <a:t>The library needs an efficient system to store, manage, and analyze data related to books, authors, borrowers, and loans. Currently, tracking book copies, borrower details, and branch records is manual and time-consuming. The goal is to build an SQL-based database that can automate data retrieval and provide accurate insights for better decision-making.</a:t>
            </a:r>
          </a:p>
          <a:p>
            <a:endParaRPr lang="en-IN" dirty="0"/>
          </a:p>
        </p:txBody>
      </p:sp>
    </p:spTree>
    <p:extLst>
      <p:ext uri="{BB962C8B-B14F-4D97-AF65-F5344CB8AC3E}">
        <p14:creationId xmlns:p14="http://schemas.microsoft.com/office/powerpoint/2010/main" val="2435246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A6FF-3277-A004-C9BE-005A7011BC62}"/>
              </a:ext>
            </a:extLst>
          </p:cNvPr>
          <p:cNvSpPr>
            <a:spLocks noGrp="1"/>
          </p:cNvSpPr>
          <p:nvPr>
            <p:ph type="title"/>
          </p:nvPr>
        </p:nvSpPr>
        <p:spPr>
          <a:xfrm>
            <a:off x="838200" y="-165817"/>
            <a:ext cx="10515600" cy="1325563"/>
          </a:xfrm>
        </p:spPr>
        <p:txBody>
          <a:bodyPr>
            <a:normAutofit/>
          </a:bodyPr>
          <a:lstStyle/>
          <a:p>
            <a:r>
              <a:rPr lang="en-US" sz="3200" dirty="0"/>
              <a:t>ER DIAGRAM</a:t>
            </a:r>
            <a:endParaRPr lang="en-IN" sz="3200" dirty="0"/>
          </a:p>
        </p:txBody>
      </p:sp>
      <p:pic>
        <p:nvPicPr>
          <p:cNvPr id="5" name="Picture 4">
            <a:extLst>
              <a:ext uri="{FF2B5EF4-FFF2-40B4-BE49-F238E27FC236}">
                <a16:creationId xmlns:a16="http://schemas.microsoft.com/office/drawing/2014/main" id="{91C59DB7-61B8-6A6E-3AA7-40FAC1613A20}"/>
              </a:ext>
            </a:extLst>
          </p:cNvPr>
          <p:cNvPicPr>
            <a:picLocks noChangeAspect="1"/>
          </p:cNvPicPr>
          <p:nvPr/>
        </p:nvPicPr>
        <p:blipFill>
          <a:blip r:embed="rId2"/>
          <a:stretch>
            <a:fillRect/>
          </a:stretch>
        </p:blipFill>
        <p:spPr>
          <a:xfrm>
            <a:off x="1217888" y="1012723"/>
            <a:ext cx="7494584" cy="5096694"/>
          </a:xfrm>
          <a:prstGeom prst="rect">
            <a:avLst/>
          </a:prstGeom>
        </p:spPr>
      </p:pic>
    </p:spTree>
    <p:extLst>
      <p:ext uri="{BB962C8B-B14F-4D97-AF65-F5344CB8AC3E}">
        <p14:creationId xmlns:p14="http://schemas.microsoft.com/office/powerpoint/2010/main" val="1656688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ADF46-C73D-C78D-92F0-30EC303FCC74}"/>
              </a:ext>
            </a:extLst>
          </p:cNvPr>
          <p:cNvSpPr>
            <a:spLocks noGrp="1"/>
          </p:cNvSpPr>
          <p:nvPr>
            <p:ph type="title"/>
          </p:nvPr>
        </p:nvSpPr>
        <p:spPr/>
        <p:txBody>
          <a:bodyPr>
            <a:normAutofit/>
          </a:bodyPr>
          <a:lstStyle/>
          <a:p>
            <a:r>
              <a:rPr lang="en-US" sz="2800" dirty="0"/>
              <a:t>1. How many copies of the book titled "The Lost Tribe" are owned by the library branch whose name is "Sharpstown"?</a:t>
            </a:r>
            <a:endParaRPr lang="en-IN" sz="2800" dirty="0"/>
          </a:p>
        </p:txBody>
      </p:sp>
      <p:sp>
        <p:nvSpPr>
          <p:cNvPr id="3" name="Text Placeholder 2">
            <a:extLst>
              <a:ext uri="{FF2B5EF4-FFF2-40B4-BE49-F238E27FC236}">
                <a16:creationId xmlns:a16="http://schemas.microsoft.com/office/drawing/2014/main" id="{A698D529-342D-2D28-BBA4-25BBDA91F577}"/>
              </a:ext>
            </a:extLst>
          </p:cNvPr>
          <p:cNvSpPr>
            <a:spLocks noGrp="1"/>
          </p:cNvSpPr>
          <p:nvPr>
            <p:ph type="body" idx="1"/>
          </p:nvPr>
        </p:nvSpPr>
        <p:spPr/>
        <p:txBody>
          <a:bodyPr/>
          <a:lstStyle/>
          <a:p>
            <a:r>
              <a:rPr lang="en-US" dirty="0"/>
              <a:t>Code</a:t>
            </a:r>
          </a:p>
          <a:p>
            <a:endParaRPr lang="en-US" dirty="0"/>
          </a:p>
          <a:p>
            <a:endParaRPr lang="en-US" dirty="0"/>
          </a:p>
          <a:p>
            <a:endParaRPr lang="en-US" dirty="0"/>
          </a:p>
          <a:p>
            <a:r>
              <a:rPr lang="en-US" dirty="0"/>
              <a:t>Output</a:t>
            </a:r>
          </a:p>
          <a:p>
            <a:endParaRPr lang="en-IN" dirty="0"/>
          </a:p>
        </p:txBody>
      </p:sp>
      <p:pic>
        <p:nvPicPr>
          <p:cNvPr id="7" name="Picture 6">
            <a:extLst>
              <a:ext uri="{FF2B5EF4-FFF2-40B4-BE49-F238E27FC236}">
                <a16:creationId xmlns:a16="http://schemas.microsoft.com/office/drawing/2014/main" id="{58F526B6-4A10-2B43-BED3-398EAF0119F4}"/>
              </a:ext>
            </a:extLst>
          </p:cNvPr>
          <p:cNvPicPr>
            <a:picLocks noChangeAspect="1"/>
          </p:cNvPicPr>
          <p:nvPr/>
        </p:nvPicPr>
        <p:blipFill>
          <a:blip r:embed="rId2"/>
          <a:stretch>
            <a:fillRect/>
          </a:stretch>
        </p:blipFill>
        <p:spPr>
          <a:xfrm>
            <a:off x="838200" y="2546681"/>
            <a:ext cx="7255980" cy="1351496"/>
          </a:xfrm>
          <a:prstGeom prst="rect">
            <a:avLst/>
          </a:prstGeom>
        </p:spPr>
      </p:pic>
      <p:pic>
        <p:nvPicPr>
          <p:cNvPr id="9" name="Picture 8">
            <a:extLst>
              <a:ext uri="{FF2B5EF4-FFF2-40B4-BE49-F238E27FC236}">
                <a16:creationId xmlns:a16="http://schemas.microsoft.com/office/drawing/2014/main" id="{0BAB7996-26E8-897E-2EF4-613C909425D5}"/>
              </a:ext>
            </a:extLst>
          </p:cNvPr>
          <p:cNvPicPr>
            <a:picLocks noChangeAspect="1"/>
          </p:cNvPicPr>
          <p:nvPr/>
        </p:nvPicPr>
        <p:blipFill>
          <a:blip r:embed="rId3"/>
          <a:stretch>
            <a:fillRect/>
          </a:stretch>
        </p:blipFill>
        <p:spPr>
          <a:xfrm>
            <a:off x="1025013" y="4619233"/>
            <a:ext cx="4120674" cy="1692668"/>
          </a:xfrm>
          <a:prstGeom prst="rect">
            <a:avLst/>
          </a:prstGeom>
        </p:spPr>
      </p:pic>
    </p:spTree>
    <p:extLst>
      <p:ext uri="{BB962C8B-B14F-4D97-AF65-F5344CB8AC3E}">
        <p14:creationId xmlns:p14="http://schemas.microsoft.com/office/powerpoint/2010/main" val="217329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C6A32-6B8D-7049-6086-7E985A38CD2A}"/>
              </a:ext>
            </a:extLst>
          </p:cNvPr>
          <p:cNvSpPr>
            <a:spLocks noGrp="1"/>
          </p:cNvSpPr>
          <p:nvPr>
            <p:ph type="title"/>
          </p:nvPr>
        </p:nvSpPr>
        <p:spPr/>
        <p:txBody>
          <a:bodyPr>
            <a:normAutofit/>
          </a:bodyPr>
          <a:lstStyle/>
          <a:p>
            <a:r>
              <a:rPr lang="en-US" sz="2800" dirty="0"/>
              <a:t>2. How many copies of the book titled "The Lost Tribe" are owned by each library branch?</a:t>
            </a:r>
            <a:endParaRPr lang="en-IN" sz="2800" dirty="0"/>
          </a:p>
        </p:txBody>
      </p:sp>
      <p:sp>
        <p:nvSpPr>
          <p:cNvPr id="3" name="Text Placeholder 2">
            <a:extLst>
              <a:ext uri="{FF2B5EF4-FFF2-40B4-BE49-F238E27FC236}">
                <a16:creationId xmlns:a16="http://schemas.microsoft.com/office/drawing/2014/main" id="{A10B9E35-6D58-647D-3546-3E6790F65A86}"/>
              </a:ext>
            </a:extLst>
          </p:cNvPr>
          <p:cNvSpPr>
            <a:spLocks noGrp="1"/>
          </p:cNvSpPr>
          <p:nvPr>
            <p:ph type="body" idx="1"/>
          </p:nvPr>
        </p:nvSpPr>
        <p:spPr/>
        <p:txBody>
          <a:bodyPr/>
          <a:lstStyle/>
          <a:p>
            <a:r>
              <a:rPr lang="en-US" dirty="0"/>
              <a:t>Code</a:t>
            </a:r>
          </a:p>
          <a:p>
            <a:endParaRPr lang="en-US" dirty="0"/>
          </a:p>
          <a:p>
            <a:endParaRPr lang="en-US" dirty="0"/>
          </a:p>
          <a:p>
            <a:endParaRPr lang="en-US" dirty="0"/>
          </a:p>
          <a:p>
            <a:r>
              <a:rPr lang="en-US" dirty="0"/>
              <a:t>Output</a:t>
            </a:r>
          </a:p>
          <a:p>
            <a:endParaRPr lang="en-IN" dirty="0"/>
          </a:p>
        </p:txBody>
      </p:sp>
      <p:pic>
        <p:nvPicPr>
          <p:cNvPr id="5" name="Picture 4">
            <a:extLst>
              <a:ext uri="{FF2B5EF4-FFF2-40B4-BE49-F238E27FC236}">
                <a16:creationId xmlns:a16="http://schemas.microsoft.com/office/drawing/2014/main" id="{1FAA68A3-0433-8C73-2429-8E5B6E81AC75}"/>
              </a:ext>
            </a:extLst>
          </p:cNvPr>
          <p:cNvPicPr>
            <a:picLocks noChangeAspect="1"/>
          </p:cNvPicPr>
          <p:nvPr/>
        </p:nvPicPr>
        <p:blipFill>
          <a:blip r:embed="rId2"/>
          <a:stretch>
            <a:fillRect/>
          </a:stretch>
        </p:blipFill>
        <p:spPr>
          <a:xfrm>
            <a:off x="838200" y="2478839"/>
            <a:ext cx="9182442" cy="1414173"/>
          </a:xfrm>
          <a:prstGeom prst="rect">
            <a:avLst/>
          </a:prstGeom>
        </p:spPr>
      </p:pic>
      <p:pic>
        <p:nvPicPr>
          <p:cNvPr id="7" name="Picture 6">
            <a:extLst>
              <a:ext uri="{FF2B5EF4-FFF2-40B4-BE49-F238E27FC236}">
                <a16:creationId xmlns:a16="http://schemas.microsoft.com/office/drawing/2014/main" id="{02914B78-AEB5-55D4-CDA3-8F3A398B9D34}"/>
              </a:ext>
            </a:extLst>
          </p:cNvPr>
          <p:cNvPicPr>
            <a:picLocks noChangeAspect="1"/>
          </p:cNvPicPr>
          <p:nvPr/>
        </p:nvPicPr>
        <p:blipFill>
          <a:blip r:embed="rId3"/>
          <a:stretch>
            <a:fillRect/>
          </a:stretch>
        </p:blipFill>
        <p:spPr>
          <a:xfrm>
            <a:off x="1015180" y="4365251"/>
            <a:ext cx="4866622" cy="1946649"/>
          </a:xfrm>
          <a:prstGeom prst="rect">
            <a:avLst/>
          </a:prstGeom>
        </p:spPr>
      </p:pic>
    </p:spTree>
    <p:extLst>
      <p:ext uri="{BB962C8B-B14F-4D97-AF65-F5344CB8AC3E}">
        <p14:creationId xmlns:p14="http://schemas.microsoft.com/office/powerpoint/2010/main" val="2967213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F0420-6447-F59F-F956-84098B945033}"/>
              </a:ext>
            </a:extLst>
          </p:cNvPr>
          <p:cNvSpPr>
            <a:spLocks noGrp="1"/>
          </p:cNvSpPr>
          <p:nvPr>
            <p:ph type="title"/>
          </p:nvPr>
        </p:nvSpPr>
        <p:spPr/>
        <p:txBody>
          <a:bodyPr>
            <a:normAutofit/>
          </a:bodyPr>
          <a:lstStyle/>
          <a:p>
            <a:r>
              <a:rPr lang="en-US" sz="2800" dirty="0"/>
              <a:t>3. Retrieve the names of all borrowers who do not have any books checked out. </a:t>
            </a:r>
            <a:endParaRPr lang="en-IN" sz="2800" dirty="0"/>
          </a:p>
        </p:txBody>
      </p:sp>
      <p:sp>
        <p:nvSpPr>
          <p:cNvPr id="3" name="Text Placeholder 2">
            <a:extLst>
              <a:ext uri="{FF2B5EF4-FFF2-40B4-BE49-F238E27FC236}">
                <a16:creationId xmlns:a16="http://schemas.microsoft.com/office/drawing/2014/main" id="{CD18C111-EBE6-CEF3-294C-C17A47ED1C80}"/>
              </a:ext>
            </a:extLst>
          </p:cNvPr>
          <p:cNvSpPr>
            <a:spLocks noGrp="1"/>
          </p:cNvSpPr>
          <p:nvPr>
            <p:ph type="body" idx="1"/>
          </p:nvPr>
        </p:nvSpPr>
        <p:spPr/>
        <p:txBody>
          <a:bodyPr/>
          <a:lstStyle/>
          <a:p>
            <a:r>
              <a:rPr lang="en-US" dirty="0"/>
              <a:t>Code</a:t>
            </a:r>
          </a:p>
          <a:p>
            <a:endParaRPr lang="en-US" dirty="0"/>
          </a:p>
          <a:p>
            <a:endParaRPr lang="en-US" dirty="0"/>
          </a:p>
          <a:p>
            <a:endParaRPr lang="en-US" dirty="0"/>
          </a:p>
          <a:p>
            <a:r>
              <a:rPr lang="en-US" dirty="0"/>
              <a:t>Output</a:t>
            </a:r>
          </a:p>
          <a:p>
            <a:endParaRPr lang="en-US" dirty="0"/>
          </a:p>
          <a:p>
            <a:endParaRPr lang="en-US" dirty="0"/>
          </a:p>
        </p:txBody>
      </p:sp>
      <p:pic>
        <p:nvPicPr>
          <p:cNvPr id="5" name="Picture 4">
            <a:extLst>
              <a:ext uri="{FF2B5EF4-FFF2-40B4-BE49-F238E27FC236}">
                <a16:creationId xmlns:a16="http://schemas.microsoft.com/office/drawing/2014/main" id="{21BE5A38-DD95-B537-C894-EE87D6F32586}"/>
              </a:ext>
            </a:extLst>
          </p:cNvPr>
          <p:cNvPicPr>
            <a:picLocks noChangeAspect="1"/>
          </p:cNvPicPr>
          <p:nvPr/>
        </p:nvPicPr>
        <p:blipFill>
          <a:blip r:embed="rId2"/>
          <a:stretch>
            <a:fillRect/>
          </a:stretch>
        </p:blipFill>
        <p:spPr>
          <a:xfrm>
            <a:off x="1058026" y="2566219"/>
            <a:ext cx="8051381" cy="1022555"/>
          </a:xfrm>
          <a:prstGeom prst="rect">
            <a:avLst/>
          </a:prstGeom>
        </p:spPr>
      </p:pic>
      <p:pic>
        <p:nvPicPr>
          <p:cNvPr id="7" name="Picture 6">
            <a:extLst>
              <a:ext uri="{FF2B5EF4-FFF2-40B4-BE49-F238E27FC236}">
                <a16:creationId xmlns:a16="http://schemas.microsoft.com/office/drawing/2014/main" id="{245982FC-A732-2B5A-E450-B3A062A96DBA}"/>
              </a:ext>
            </a:extLst>
          </p:cNvPr>
          <p:cNvPicPr>
            <a:picLocks noChangeAspect="1"/>
          </p:cNvPicPr>
          <p:nvPr/>
        </p:nvPicPr>
        <p:blipFill>
          <a:blip r:embed="rId3"/>
          <a:stretch>
            <a:fillRect/>
          </a:stretch>
        </p:blipFill>
        <p:spPr>
          <a:xfrm>
            <a:off x="1058026" y="4591896"/>
            <a:ext cx="4054628" cy="1386117"/>
          </a:xfrm>
          <a:prstGeom prst="rect">
            <a:avLst/>
          </a:prstGeom>
        </p:spPr>
      </p:pic>
    </p:spTree>
    <p:extLst>
      <p:ext uri="{BB962C8B-B14F-4D97-AF65-F5344CB8AC3E}">
        <p14:creationId xmlns:p14="http://schemas.microsoft.com/office/powerpoint/2010/main" val="119763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0053-EBD1-D077-787F-9C55D8B29EAD}"/>
              </a:ext>
            </a:extLst>
          </p:cNvPr>
          <p:cNvSpPr>
            <a:spLocks noGrp="1"/>
          </p:cNvSpPr>
          <p:nvPr>
            <p:ph type="title"/>
          </p:nvPr>
        </p:nvSpPr>
        <p:spPr/>
        <p:txBody>
          <a:bodyPr>
            <a:normAutofit/>
          </a:bodyPr>
          <a:lstStyle/>
          <a:p>
            <a:r>
              <a:rPr lang="en-US" sz="2800" dirty="0"/>
              <a:t>4. For each book that is loaned out from the "Sharpstown" branch and whose </a:t>
            </a:r>
            <a:r>
              <a:rPr lang="en-US" sz="2800" dirty="0" err="1"/>
              <a:t>DueDate</a:t>
            </a:r>
            <a:r>
              <a:rPr lang="en-US" sz="2800" dirty="0"/>
              <a:t> is 2/3/18, retrieve the book title, the borrower's name, and the borrower's address. </a:t>
            </a:r>
            <a:endParaRPr lang="en-IN" sz="2800" dirty="0"/>
          </a:p>
        </p:txBody>
      </p:sp>
      <p:sp>
        <p:nvSpPr>
          <p:cNvPr id="3" name="Text Placeholder 2">
            <a:extLst>
              <a:ext uri="{FF2B5EF4-FFF2-40B4-BE49-F238E27FC236}">
                <a16:creationId xmlns:a16="http://schemas.microsoft.com/office/drawing/2014/main" id="{5327D70B-3BC0-8DCB-C462-F40DF7D30FA1}"/>
              </a:ext>
            </a:extLst>
          </p:cNvPr>
          <p:cNvSpPr>
            <a:spLocks noGrp="1"/>
          </p:cNvSpPr>
          <p:nvPr>
            <p:ph type="body" idx="1"/>
          </p:nvPr>
        </p:nvSpPr>
        <p:spPr>
          <a:xfrm>
            <a:off x="838200" y="1573162"/>
            <a:ext cx="10515600" cy="5284838"/>
          </a:xfrm>
        </p:spPr>
        <p:txBody>
          <a:bodyPr/>
          <a:lstStyle/>
          <a:p>
            <a:r>
              <a:rPr lang="en-US" dirty="0"/>
              <a:t>Code:</a:t>
            </a:r>
          </a:p>
          <a:p>
            <a:endParaRPr lang="en-US" dirty="0"/>
          </a:p>
          <a:p>
            <a:endParaRPr lang="en-US" dirty="0"/>
          </a:p>
          <a:p>
            <a:endParaRPr lang="en-US" dirty="0"/>
          </a:p>
          <a:p>
            <a:pPr marL="114300" indent="0">
              <a:buNone/>
            </a:pPr>
            <a:endParaRPr lang="en-US" dirty="0"/>
          </a:p>
          <a:p>
            <a:pPr marL="114300" indent="0">
              <a:buNone/>
            </a:pPr>
            <a:endParaRPr lang="en-US" dirty="0"/>
          </a:p>
          <a:p>
            <a:r>
              <a:rPr lang="en-US" dirty="0"/>
              <a:t>Output:</a:t>
            </a:r>
          </a:p>
          <a:p>
            <a:endParaRPr lang="en-IN" dirty="0"/>
          </a:p>
        </p:txBody>
      </p:sp>
      <p:pic>
        <p:nvPicPr>
          <p:cNvPr id="5" name="Picture 4">
            <a:extLst>
              <a:ext uri="{FF2B5EF4-FFF2-40B4-BE49-F238E27FC236}">
                <a16:creationId xmlns:a16="http://schemas.microsoft.com/office/drawing/2014/main" id="{5A04DF1D-1732-28F8-BACD-AB6FF31D67AA}"/>
              </a:ext>
            </a:extLst>
          </p:cNvPr>
          <p:cNvPicPr>
            <a:picLocks noChangeAspect="1"/>
          </p:cNvPicPr>
          <p:nvPr/>
        </p:nvPicPr>
        <p:blipFill>
          <a:blip r:embed="rId2"/>
          <a:stretch>
            <a:fillRect/>
          </a:stretch>
        </p:blipFill>
        <p:spPr>
          <a:xfrm>
            <a:off x="1140676" y="2248145"/>
            <a:ext cx="4522705" cy="2361709"/>
          </a:xfrm>
          <a:prstGeom prst="rect">
            <a:avLst/>
          </a:prstGeom>
        </p:spPr>
      </p:pic>
      <p:pic>
        <p:nvPicPr>
          <p:cNvPr id="7" name="Picture 6">
            <a:extLst>
              <a:ext uri="{FF2B5EF4-FFF2-40B4-BE49-F238E27FC236}">
                <a16:creationId xmlns:a16="http://schemas.microsoft.com/office/drawing/2014/main" id="{D9CE089A-8DBE-A4CA-D57D-EED8430A2BCC}"/>
              </a:ext>
            </a:extLst>
          </p:cNvPr>
          <p:cNvPicPr>
            <a:picLocks noChangeAspect="1"/>
          </p:cNvPicPr>
          <p:nvPr/>
        </p:nvPicPr>
        <p:blipFill>
          <a:blip r:embed="rId3"/>
          <a:stretch>
            <a:fillRect/>
          </a:stretch>
        </p:blipFill>
        <p:spPr>
          <a:xfrm>
            <a:off x="1140676" y="5167311"/>
            <a:ext cx="4445804" cy="1426199"/>
          </a:xfrm>
          <a:prstGeom prst="rect">
            <a:avLst/>
          </a:prstGeom>
        </p:spPr>
      </p:pic>
    </p:spTree>
    <p:extLst>
      <p:ext uri="{BB962C8B-B14F-4D97-AF65-F5344CB8AC3E}">
        <p14:creationId xmlns:p14="http://schemas.microsoft.com/office/powerpoint/2010/main" val="3625645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6789E-6E5A-3216-6663-C972032F1BCB}"/>
              </a:ext>
            </a:extLst>
          </p:cNvPr>
          <p:cNvSpPr>
            <a:spLocks noGrp="1"/>
          </p:cNvSpPr>
          <p:nvPr>
            <p:ph type="title"/>
          </p:nvPr>
        </p:nvSpPr>
        <p:spPr/>
        <p:txBody>
          <a:bodyPr>
            <a:normAutofit/>
          </a:bodyPr>
          <a:lstStyle/>
          <a:p>
            <a:r>
              <a:rPr lang="en-US" sz="2800" dirty="0"/>
              <a:t>5. For each library branch, retrieve the branch name and the total number of books loaned out from that branch.</a:t>
            </a:r>
            <a:endParaRPr lang="en-IN" sz="2800" dirty="0"/>
          </a:p>
        </p:txBody>
      </p:sp>
      <p:sp>
        <p:nvSpPr>
          <p:cNvPr id="3" name="Text Placeholder 2">
            <a:extLst>
              <a:ext uri="{FF2B5EF4-FFF2-40B4-BE49-F238E27FC236}">
                <a16:creationId xmlns:a16="http://schemas.microsoft.com/office/drawing/2014/main" id="{7459C157-3679-28E9-93D5-5C32BF38CE6A}"/>
              </a:ext>
            </a:extLst>
          </p:cNvPr>
          <p:cNvSpPr>
            <a:spLocks noGrp="1"/>
          </p:cNvSpPr>
          <p:nvPr>
            <p:ph type="body" idx="1"/>
          </p:nvPr>
        </p:nvSpPr>
        <p:spPr>
          <a:xfrm>
            <a:off x="838200" y="1690688"/>
            <a:ext cx="10515600" cy="4486275"/>
          </a:xfrm>
        </p:spPr>
        <p:txBody>
          <a:bodyPr/>
          <a:lstStyle/>
          <a:p>
            <a:r>
              <a:rPr lang="en-US" dirty="0"/>
              <a:t>Code</a:t>
            </a:r>
          </a:p>
          <a:p>
            <a:endParaRPr lang="en-IN" dirty="0"/>
          </a:p>
          <a:p>
            <a:endParaRPr lang="en-IN" dirty="0"/>
          </a:p>
          <a:p>
            <a:pPr marL="114300" indent="0">
              <a:buNone/>
            </a:pPr>
            <a:endParaRPr lang="en-IN" dirty="0"/>
          </a:p>
          <a:p>
            <a:r>
              <a:rPr lang="en-IN" dirty="0"/>
              <a:t>Output</a:t>
            </a:r>
          </a:p>
          <a:p>
            <a:endParaRPr lang="en-IN" dirty="0"/>
          </a:p>
        </p:txBody>
      </p:sp>
      <p:pic>
        <p:nvPicPr>
          <p:cNvPr id="5" name="Picture 4">
            <a:extLst>
              <a:ext uri="{FF2B5EF4-FFF2-40B4-BE49-F238E27FC236}">
                <a16:creationId xmlns:a16="http://schemas.microsoft.com/office/drawing/2014/main" id="{1274194D-E396-FCCA-59A1-B0EFAD9CD815}"/>
              </a:ext>
            </a:extLst>
          </p:cNvPr>
          <p:cNvPicPr>
            <a:picLocks noChangeAspect="1"/>
          </p:cNvPicPr>
          <p:nvPr/>
        </p:nvPicPr>
        <p:blipFill>
          <a:blip r:embed="rId2"/>
          <a:stretch>
            <a:fillRect/>
          </a:stretch>
        </p:blipFill>
        <p:spPr>
          <a:xfrm>
            <a:off x="1107101" y="2318037"/>
            <a:ext cx="3566669" cy="1396427"/>
          </a:xfrm>
          <a:prstGeom prst="rect">
            <a:avLst/>
          </a:prstGeom>
        </p:spPr>
      </p:pic>
      <p:pic>
        <p:nvPicPr>
          <p:cNvPr id="7" name="Picture 6">
            <a:extLst>
              <a:ext uri="{FF2B5EF4-FFF2-40B4-BE49-F238E27FC236}">
                <a16:creationId xmlns:a16="http://schemas.microsoft.com/office/drawing/2014/main" id="{89B26BB7-8111-2FF4-FF2D-56BDF407DC48}"/>
              </a:ext>
            </a:extLst>
          </p:cNvPr>
          <p:cNvPicPr>
            <a:picLocks noChangeAspect="1"/>
          </p:cNvPicPr>
          <p:nvPr/>
        </p:nvPicPr>
        <p:blipFill>
          <a:blip r:embed="rId3"/>
          <a:stretch>
            <a:fillRect/>
          </a:stretch>
        </p:blipFill>
        <p:spPr>
          <a:xfrm>
            <a:off x="1107101" y="4278811"/>
            <a:ext cx="3475078" cy="1898152"/>
          </a:xfrm>
          <a:prstGeom prst="rect">
            <a:avLst/>
          </a:prstGeom>
        </p:spPr>
      </p:pic>
    </p:spTree>
    <p:extLst>
      <p:ext uri="{BB962C8B-B14F-4D97-AF65-F5344CB8AC3E}">
        <p14:creationId xmlns:p14="http://schemas.microsoft.com/office/powerpoint/2010/main" val="245469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46F7E-38CE-4E8A-CE41-4F0B2FCF4017}"/>
              </a:ext>
            </a:extLst>
          </p:cNvPr>
          <p:cNvSpPr>
            <a:spLocks noGrp="1"/>
          </p:cNvSpPr>
          <p:nvPr>
            <p:ph type="title"/>
          </p:nvPr>
        </p:nvSpPr>
        <p:spPr/>
        <p:txBody>
          <a:bodyPr>
            <a:normAutofit/>
          </a:bodyPr>
          <a:lstStyle/>
          <a:p>
            <a:r>
              <a:rPr lang="en-US" sz="2800" dirty="0"/>
              <a:t>6. Retrieve the names, addresses, and number of books checked out for all borrowers who have more than five books checked out. </a:t>
            </a:r>
            <a:endParaRPr lang="en-IN" sz="2800" dirty="0"/>
          </a:p>
        </p:txBody>
      </p:sp>
      <p:sp>
        <p:nvSpPr>
          <p:cNvPr id="3" name="Text Placeholder 2">
            <a:extLst>
              <a:ext uri="{FF2B5EF4-FFF2-40B4-BE49-F238E27FC236}">
                <a16:creationId xmlns:a16="http://schemas.microsoft.com/office/drawing/2014/main" id="{CC2B2701-3274-178E-61BA-3B47C70E8588}"/>
              </a:ext>
            </a:extLst>
          </p:cNvPr>
          <p:cNvSpPr>
            <a:spLocks noGrp="1"/>
          </p:cNvSpPr>
          <p:nvPr>
            <p:ph type="body" idx="1"/>
          </p:nvPr>
        </p:nvSpPr>
        <p:spPr>
          <a:xfrm>
            <a:off x="838200" y="1415845"/>
            <a:ext cx="10515600" cy="4761118"/>
          </a:xfrm>
        </p:spPr>
        <p:txBody>
          <a:bodyPr/>
          <a:lstStyle/>
          <a:p>
            <a:r>
              <a:rPr lang="en-US" dirty="0"/>
              <a:t>Code</a:t>
            </a:r>
          </a:p>
          <a:p>
            <a:endParaRPr lang="en-US" dirty="0"/>
          </a:p>
          <a:p>
            <a:endParaRPr lang="en-US" dirty="0"/>
          </a:p>
          <a:p>
            <a:endParaRPr lang="en-US" dirty="0"/>
          </a:p>
          <a:p>
            <a:endParaRPr lang="en-US" dirty="0"/>
          </a:p>
          <a:p>
            <a:r>
              <a:rPr lang="en-US" dirty="0"/>
              <a:t>Output</a:t>
            </a:r>
          </a:p>
          <a:p>
            <a:endParaRPr lang="en-US" dirty="0"/>
          </a:p>
          <a:p>
            <a:endParaRPr lang="en-IN" dirty="0"/>
          </a:p>
        </p:txBody>
      </p:sp>
      <p:pic>
        <p:nvPicPr>
          <p:cNvPr id="5" name="Picture 4">
            <a:extLst>
              <a:ext uri="{FF2B5EF4-FFF2-40B4-BE49-F238E27FC236}">
                <a16:creationId xmlns:a16="http://schemas.microsoft.com/office/drawing/2014/main" id="{27C68F79-95CA-971E-D531-AAE31319E968}"/>
              </a:ext>
            </a:extLst>
          </p:cNvPr>
          <p:cNvPicPr>
            <a:picLocks noChangeAspect="1"/>
          </p:cNvPicPr>
          <p:nvPr/>
        </p:nvPicPr>
        <p:blipFill>
          <a:blip r:embed="rId2"/>
          <a:stretch>
            <a:fillRect/>
          </a:stretch>
        </p:blipFill>
        <p:spPr>
          <a:xfrm>
            <a:off x="1312116" y="2051522"/>
            <a:ext cx="5654530" cy="1882303"/>
          </a:xfrm>
          <a:prstGeom prst="rect">
            <a:avLst/>
          </a:prstGeom>
        </p:spPr>
      </p:pic>
      <p:pic>
        <p:nvPicPr>
          <p:cNvPr id="7" name="Picture 6">
            <a:extLst>
              <a:ext uri="{FF2B5EF4-FFF2-40B4-BE49-F238E27FC236}">
                <a16:creationId xmlns:a16="http://schemas.microsoft.com/office/drawing/2014/main" id="{1258D2FE-564F-5C38-2C4A-1A40CB3735C5}"/>
              </a:ext>
            </a:extLst>
          </p:cNvPr>
          <p:cNvPicPr>
            <a:picLocks noChangeAspect="1"/>
          </p:cNvPicPr>
          <p:nvPr/>
        </p:nvPicPr>
        <p:blipFill>
          <a:blip r:embed="rId3"/>
          <a:stretch>
            <a:fillRect/>
          </a:stretch>
        </p:blipFill>
        <p:spPr>
          <a:xfrm>
            <a:off x="1312116" y="4650598"/>
            <a:ext cx="4999153" cy="1371719"/>
          </a:xfrm>
          <a:prstGeom prst="rect">
            <a:avLst/>
          </a:prstGeom>
        </p:spPr>
      </p:pic>
    </p:spTree>
    <p:extLst>
      <p:ext uri="{BB962C8B-B14F-4D97-AF65-F5344CB8AC3E}">
        <p14:creationId xmlns:p14="http://schemas.microsoft.com/office/powerpoint/2010/main" val="3844769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2297-0071-0C2F-8CF8-15E82612A834}"/>
              </a:ext>
            </a:extLst>
          </p:cNvPr>
          <p:cNvSpPr>
            <a:spLocks noGrp="1"/>
          </p:cNvSpPr>
          <p:nvPr>
            <p:ph type="title"/>
          </p:nvPr>
        </p:nvSpPr>
        <p:spPr/>
        <p:txBody>
          <a:bodyPr>
            <a:normAutofit/>
          </a:bodyPr>
          <a:lstStyle/>
          <a:p>
            <a:r>
              <a:rPr lang="en-US" sz="2800" dirty="0"/>
              <a:t>7. For each book authored by "Stephen King", retrieve the title and the number of copies owned by the library branch whose name is "Central". </a:t>
            </a:r>
            <a:endParaRPr lang="en-IN" sz="2800" dirty="0"/>
          </a:p>
        </p:txBody>
      </p:sp>
      <p:sp>
        <p:nvSpPr>
          <p:cNvPr id="3" name="Text Placeholder 2">
            <a:extLst>
              <a:ext uri="{FF2B5EF4-FFF2-40B4-BE49-F238E27FC236}">
                <a16:creationId xmlns:a16="http://schemas.microsoft.com/office/drawing/2014/main" id="{7610BA65-14AE-1A91-F1D5-EF72A10FE3AD}"/>
              </a:ext>
            </a:extLst>
          </p:cNvPr>
          <p:cNvSpPr>
            <a:spLocks noGrp="1"/>
          </p:cNvSpPr>
          <p:nvPr>
            <p:ph type="body" idx="1"/>
          </p:nvPr>
        </p:nvSpPr>
        <p:spPr/>
        <p:txBody>
          <a:bodyPr/>
          <a:lstStyle/>
          <a:p>
            <a:r>
              <a:rPr lang="en-US" dirty="0"/>
              <a:t>Code</a:t>
            </a:r>
          </a:p>
          <a:p>
            <a:endParaRPr lang="en-US" dirty="0"/>
          </a:p>
          <a:p>
            <a:endParaRPr lang="en-US" dirty="0"/>
          </a:p>
          <a:p>
            <a:endParaRPr lang="en-US" dirty="0"/>
          </a:p>
          <a:p>
            <a:r>
              <a:rPr lang="en-US" dirty="0"/>
              <a:t>Output</a:t>
            </a:r>
          </a:p>
          <a:p>
            <a:endParaRPr lang="en-US" dirty="0"/>
          </a:p>
          <a:p>
            <a:endParaRPr lang="en-IN" dirty="0"/>
          </a:p>
        </p:txBody>
      </p:sp>
      <p:pic>
        <p:nvPicPr>
          <p:cNvPr id="5" name="Picture 4">
            <a:extLst>
              <a:ext uri="{FF2B5EF4-FFF2-40B4-BE49-F238E27FC236}">
                <a16:creationId xmlns:a16="http://schemas.microsoft.com/office/drawing/2014/main" id="{DC20BB5A-1E2B-DC06-4E02-FD98EE5239BA}"/>
              </a:ext>
            </a:extLst>
          </p:cNvPr>
          <p:cNvPicPr>
            <a:picLocks noChangeAspect="1"/>
          </p:cNvPicPr>
          <p:nvPr/>
        </p:nvPicPr>
        <p:blipFill>
          <a:blip r:embed="rId2"/>
          <a:stretch>
            <a:fillRect/>
          </a:stretch>
        </p:blipFill>
        <p:spPr>
          <a:xfrm>
            <a:off x="838200" y="2362108"/>
            <a:ext cx="10734369" cy="1325562"/>
          </a:xfrm>
          <a:prstGeom prst="rect">
            <a:avLst/>
          </a:prstGeom>
        </p:spPr>
      </p:pic>
      <p:pic>
        <p:nvPicPr>
          <p:cNvPr id="7" name="Picture 6">
            <a:extLst>
              <a:ext uri="{FF2B5EF4-FFF2-40B4-BE49-F238E27FC236}">
                <a16:creationId xmlns:a16="http://schemas.microsoft.com/office/drawing/2014/main" id="{E1A2B590-6875-04A9-6D79-E778004254F5}"/>
              </a:ext>
            </a:extLst>
          </p:cNvPr>
          <p:cNvPicPr>
            <a:picLocks noChangeAspect="1"/>
          </p:cNvPicPr>
          <p:nvPr/>
        </p:nvPicPr>
        <p:blipFill>
          <a:blip r:embed="rId3"/>
          <a:stretch>
            <a:fillRect/>
          </a:stretch>
        </p:blipFill>
        <p:spPr>
          <a:xfrm>
            <a:off x="838200" y="4359090"/>
            <a:ext cx="2225233" cy="1379340"/>
          </a:xfrm>
          <a:prstGeom prst="rect">
            <a:avLst/>
          </a:prstGeom>
        </p:spPr>
      </p:pic>
    </p:spTree>
    <p:extLst>
      <p:ext uri="{BB962C8B-B14F-4D97-AF65-F5344CB8AC3E}">
        <p14:creationId xmlns:p14="http://schemas.microsoft.com/office/powerpoint/2010/main" val="1971260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65773-BFC2-CC31-B70D-C01A79E76DD7}"/>
              </a:ext>
            </a:extLst>
          </p:cNvPr>
          <p:cNvSpPr>
            <a:spLocks noGrp="1"/>
          </p:cNvSpPr>
          <p:nvPr>
            <p:ph type="title"/>
          </p:nvPr>
        </p:nvSpPr>
        <p:spPr/>
        <p:txBody>
          <a:bodyPr/>
          <a:lstStyle/>
          <a:p>
            <a:pPr algn="ctr"/>
            <a:r>
              <a:rPr lang="en-US" dirty="0"/>
              <a:t>Conclusion</a:t>
            </a:r>
            <a:endParaRPr lang="en-IN" dirty="0"/>
          </a:p>
        </p:txBody>
      </p:sp>
      <p:sp>
        <p:nvSpPr>
          <p:cNvPr id="3" name="Text Placeholder 2">
            <a:extLst>
              <a:ext uri="{FF2B5EF4-FFF2-40B4-BE49-F238E27FC236}">
                <a16:creationId xmlns:a16="http://schemas.microsoft.com/office/drawing/2014/main" id="{73FA46CD-B44D-C912-7FC1-4CA4F58C3E2A}"/>
              </a:ext>
            </a:extLst>
          </p:cNvPr>
          <p:cNvSpPr>
            <a:spLocks noGrp="1"/>
          </p:cNvSpPr>
          <p:nvPr>
            <p:ph type="body" idx="1"/>
          </p:nvPr>
        </p:nvSpPr>
        <p:spPr/>
        <p:txBody>
          <a:bodyPr/>
          <a:lstStyle/>
          <a:p>
            <a:r>
              <a:rPr lang="en-US" dirty="0"/>
              <a:t>The Library Database Analysis Project successfully demonstrated how SQL can be used to manage, organize, and analyze complex library data efficiently. By designing relational tables and executing analytical queries, we were able to extract key insights such as book availability, borrower activity, and branch performance. This project enhanced our understanding of data modeling, normalization, and query optimization, and highlighted the importance of databases in real-world data management and decision-making.</a:t>
            </a:r>
          </a:p>
          <a:p>
            <a:endParaRPr lang="en-IN" dirty="0"/>
          </a:p>
        </p:txBody>
      </p:sp>
    </p:spTree>
    <p:extLst>
      <p:ext uri="{BB962C8B-B14F-4D97-AF65-F5344CB8AC3E}">
        <p14:creationId xmlns:p14="http://schemas.microsoft.com/office/powerpoint/2010/main" val="2239395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449</Words>
  <Application>Microsoft Office PowerPoint</Application>
  <PresentationFormat>Widescreen</PresentationFormat>
  <Paragraphs>79</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Algerian</vt:lpstr>
      <vt:lpstr>Times New Roman</vt:lpstr>
      <vt:lpstr>Arial</vt:lpstr>
      <vt:lpstr>Calibri</vt:lpstr>
      <vt:lpstr>Libre Baskerville</vt:lpstr>
      <vt:lpstr>Office Theme</vt:lpstr>
      <vt:lpstr>PowerPoint Presentation</vt:lpstr>
      <vt:lpstr>Introduction</vt:lpstr>
      <vt:lpstr>TABLES</vt:lpstr>
      <vt:lpstr>PowerPoint Presentation</vt:lpstr>
      <vt:lpstr>PowerPoint Presentation</vt:lpstr>
      <vt:lpstr>PowerPoint Presentation</vt:lpstr>
      <vt:lpstr>Problem Statement</vt:lpstr>
      <vt:lpstr>ER DIAGRAM</vt:lpstr>
      <vt:lpstr>1. How many copies of the book titled "The Lost Tribe" are owned by the library branch whose name is "Sharpstown"?</vt:lpstr>
      <vt:lpstr>2. How many copies of the book titled "The Lost Tribe" are owned by each library branch?</vt:lpstr>
      <vt:lpstr>3. Retrieve the names of all borrowers who do not have any books checked out. </vt:lpstr>
      <vt:lpstr>4. For each book that is loaned out from the "Sharpstown" branch and whose DueDate is 2/3/18, retrieve the book title, the borrower's name, and the borrower's address. </vt:lpstr>
      <vt:lpstr>5. For each library branch, retrieve the branch name and the total number of books loaned out from that branch.</vt:lpstr>
      <vt:lpstr>6. Retrieve the names, addresses, and number of books checked out for all borrowers who have more than five books checked out. </vt:lpstr>
      <vt:lpstr>7. For each book authored by "Stephen King", retrieve the title and the number of copies owned by the library branch whose name is "Central".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VENKATESH CHILI</cp:lastModifiedBy>
  <cp:revision>6</cp:revision>
  <dcterms:created xsi:type="dcterms:W3CDTF">2021-02-16T05:19:01Z</dcterms:created>
  <dcterms:modified xsi:type="dcterms:W3CDTF">2025-10-16T07:59:33Z</dcterms:modified>
</cp:coreProperties>
</file>